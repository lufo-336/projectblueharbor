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12700">
            <a:solidFill>
              <a:srgbClr val="C8A45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12700">
            <a:solidFill>
              <a:srgbClr val="C8A45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66928"/>
            <a:ext cx="2286000" cy="868680"/>
          </a:xfrm>
          <a:prstGeom prst="rect">
            <a:avLst/>
          </a:prstGeom>
          <a:solidFill>
            <a:srgbClr val="13233F"/>
          </a:solidFill>
          <a:ln w="15875">
            <a:solidFill>
              <a:srgbClr val="C8A4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Loghi ITS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FC080"/>
                </a:solidFill>
              </a:rPr>
              <a:t>UNITÀ FORMATIVA · LEARNING BY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BlueHarbor Terminal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EB6C2"/>
                </a:solidFill>
              </a:rPr>
              <a:t>Registro operativo per la gestione delle banchine di un terminal container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2"/>
                </a:solidFill>
              </a:rPr>
              <a:t>Cliente / Commessa: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MSC — Mediterranean Shipping Company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</a:rPr>
              <a:t>Team: </a:t>
            </a:r>
            <a:pPr indent="0" marL="0">
              <a:buNone/>
            </a:pPr>
            <a:r>
              <a:rPr lang="en-US" sz="1400" i="1" dirty="0">
                <a:solidFill>
                  <a:srgbClr val="DFC080"/>
                </a:solidFill>
              </a:rPr>
              <a:t>‹ nome del team ›</a:t>
            </a:r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</a:rPr>
              <a:t>        27 luglio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COMMESSA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richiesta di MSC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1234440"/>
          </a:xfrm>
          <a:prstGeom prst="rect">
            <a:avLst/>
          </a:prstGeom>
          <a:solidFill>
            <a:srgbClr val="FBFCFE"/>
          </a:solidFill>
          <a:ln w="15875">
            <a:solidFill>
              <a:srgbClr val="C8A45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732520" y="141732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MSC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340"/>
                </a:solidFill>
              </a:rPr>
              <a:t>MSC gestisce un piccolo terminal container, BlueHarbor. Le operazioni sono coordinate a mano: inefficienze e scarsa visibilità. Serve una piattaforma web interna semplice per: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2A3340"/>
                </a:solidFill>
              </a:rPr>
              <a:t>Registrare le navi in arrivo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2A3340"/>
                </a:solidFill>
              </a:rPr>
              <a:t>Pianificare l’uso delle banchine (assegnazione secondo regole)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2A3340"/>
                </a:solidFill>
              </a:rPr>
              <a:t>Coordinare il lavoro tra il personale operativo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114800"/>
            <a:ext cx="109728" cy="182880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24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Vincoli chiave della commessa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553712"/>
            <a:ext cx="10149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2A3340"/>
                </a:solidFill>
              </a:rPr>
              <a:t>8 banchine fisse (1 XL · 1 L · 2 M · 4 S); una banchina ospita solo navi della propria taglia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2A3340"/>
                </a:solidFill>
              </a:rPr>
              <a:t>Tempo simulato a "giorno virtuale" con azione Next Day — nessun real-time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2A3340"/>
                </a:solidFill>
              </a:rPr>
              <a:t>Fuori scope: auto-scheduling, KPI, real-time, riassegnazioni dopo l’assegnazione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BlueHarbor Terminal</a:t>
            </a:r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MSC — Learning by Project (ITS WSA 2025–2027)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realizzato BlueHarbor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</a:rPr>
              <a:t>Nome del team / azienda: </a:t>
            </a:r>
            <a:pPr indent="0" marL="0">
              <a:buNone/>
            </a:pPr>
            <a:r>
              <a:rPr lang="en-US" sz="1600" b="1" i="1" dirty="0">
                <a:solidFill>
                  <a:srgbClr val="C8A45A"/>
                </a:solidFill>
              </a:rPr>
              <a:t>‹ inserire 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</a:rPr>
              <a:t>Valori che hanno guidato il lavoro:  correttezza · chiarezza · qualità architetturale · semplicità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23160"/>
            <a:ext cx="3291840" cy="109728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2697480"/>
            <a:ext cx="1188720" cy="1188720"/>
          </a:xfrm>
          <a:prstGeom prst="rect">
            <a:avLst/>
          </a:prstGeom>
          <a:solidFill>
            <a:srgbClr val="FBFCFE"/>
          </a:solidFill>
          <a:ln w="15875">
            <a:solidFill>
              <a:srgbClr val="C8A45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828800" y="2697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‹ Nome Cognome 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A"/>
                </a:solidFill>
              </a:rPr>
              <a:t>Team Leader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</a:rPr>
              <a:t>‹ ruolo / competenze 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4231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423160"/>
            <a:ext cx="3291840" cy="109728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40680" y="2697480"/>
            <a:ext cx="1188720" cy="1188720"/>
          </a:xfrm>
          <a:prstGeom prst="rect">
            <a:avLst/>
          </a:prstGeom>
          <a:solidFill>
            <a:srgbClr val="FBFCFE"/>
          </a:solidFill>
          <a:ln w="15875">
            <a:solidFill>
              <a:srgbClr val="C8A45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40680" y="2697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‹ Nome Cognome 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A"/>
                </a:solidFill>
              </a:rPr>
              <a:t>Sviluppo / Tech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4709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</a:rPr>
              <a:t>‹ ruolo / competenze 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24231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423160"/>
            <a:ext cx="3291840" cy="109728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2697480"/>
            <a:ext cx="1188720" cy="1188720"/>
          </a:xfrm>
          <a:prstGeom prst="rect">
            <a:avLst/>
          </a:prstGeom>
          <a:solidFill>
            <a:srgbClr val="FBFCFE"/>
          </a:solidFill>
          <a:ln w="15875">
            <a:solidFill>
              <a:srgbClr val="C8A45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052560" y="2697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100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‹ Nome Cognome 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A"/>
                </a:solidFill>
              </a:rPr>
              <a:t>Sviluppo / Tech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4709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</a:rPr>
              <a:t>‹ ruolo / competenze 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6C2"/>
                </a:solidFill>
              </a:rPr>
              <a:t>Suggerimento: aggiungere/rimuovere le card in base al numero effettivo di membri; le foto sono facoltative.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BlueHarbor Terminal</a:t>
            </a:r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MSC — Learning by Project (ITS WSA 2025–2027)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 DEL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abbiamo risolto la commessa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3340"/>
                </a:solidFill>
              </a:rPr>
              <a:t>Un’unica web app, con la vista giusta per ogni ruolo, che rende difficile sbagliare e rispetta con rigore i vincoli della commessa.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Scelte che ci distinguono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532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b="1" dirty="0">
                <a:solidFill>
                  <a:srgbClr val="2A3340"/>
                </a:solidFill>
              </a:rPr>
              <a:t>Assegnazione guidata: selezioni la nave → si accendono solo le banchine compatibili con l’anteprima del primo giorno libero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Timeline navigabile con accodamento visivo (occupazioni, manutenzioni, "oggi")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Storico append-only + export CSV: tracciabilità senza abilitare riassegnazioni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Admin come ruolo di piattaforma (utenti, manutenzioni) senza scavalcare le regole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Interfaccia bilingue IT/EN + tema chiaro/scuro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Qualità architetturale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Regole di dominio come funzioni pure, coperte da unit test (xUnit)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Separazione netta front/back; errori come Problem Details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2A3340"/>
                </a:solidFill>
              </a:rPr>
              <a:t>Deploy cloud reale: Azure Container Apps + Azure SQL, CI/CD automatica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4114800"/>
            <a:ext cx="1417320" cy="868680"/>
          </a:xfrm>
          <a:prstGeom prst="rect">
            <a:avLst/>
          </a:prstGeom>
          <a:solidFill>
            <a:srgbClr val="1A336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4114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+ Vite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411480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45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03920" y="4114800"/>
            <a:ext cx="1417320" cy="868680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114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EF 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0" y="411480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45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287000" y="4114800"/>
            <a:ext cx="14173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0" y="4114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Server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</a:rPr>
              <a:t>Architettura a tre livelli (HTTP/JSON, autenticazione JWT)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BlueHarbor Terminal</a:t>
            </a:r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MSC — Learning by Project (ITS WSA 2025–2027)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DIMOSTRAZIONE PRATICA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FC080"/>
                </a:solidFill>
              </a:rPr>
              <a:t>Passiamo al prodotto funzionante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A45A"/>
                </a:solidFill>
              </a:rPr>
              <a:t>Percorso demo:  </a:t>
            </a:r>
            <a:pPr algn="ctr" indent="0" marL="0">
              <a:buNone/>
            </a:pPr>
            <a:r>
              <a:rPr lang="en-US" sz="1250" dirty="0">
                <a:solidFill>
                  <a:srgbClr val="AEB6C2"/>
                </a:solidFill>
              </a:rPr>
              <a:t>Operatore registra una nave  →  Scheduler la assegna (accodamento in timeline)  →  Next Day: la nave parte  →  Admin: utenti e manutenzioni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521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45A"/>
                </a:solidFill>
              </a:rPr>
              <a:t>▶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DI VENDITA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commerciale e listino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3340"/>
                </a:solidFill>
              </a:rPr>
              <a:t>BlueHarbor si vende in due modalità — abbonamento cloud (SaaS) o licenza on-premise — con un’opzione di noleggio per i picchi. Prezzi indicativi, IVA esclusa.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07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7607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include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 indicativo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· Base (canone)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navi, scheduling con accodamento, timeline, storico. Hosting cloud gestito, aggiornamenti, supporto standard.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€ 149 / mese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· Premium (canone)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manutenzioni banchina, ruolo Admin/gestione utenti, export CSV, multilingua IT/EN, supporto prioritario.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€ 249 / mese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 on-premise (una tantum)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Installazione presso il cliente + formazione. Canone di manutenzione/aggiornamenti 18%/anno.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€ 4.900 + € 880/anno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Noleggio (senza vincolo)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temporaneo per stagioni di picco; attivazione rapida, disdetta libera.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€ 199 / mese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Pacchetto “chiavi in mano”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+ migrazione + formazione + 12 mesi di manutenzione inclusi.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€ 6.500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Perché ha valore: </a:t>
            </a:r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meno errori e coordinamento più rapido delle banchine, tracciabilità delle decisioni, zero installazioni con il SaaS. Sconti su contratti pluriennali e su più terminal.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BlueHarbor Terminal</a:t>
            </a:r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MSC — Learning by Project (ITS WSA 2025–2027)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Contatti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FC080"/>
                </a:solidFill>
              </a:rPr>
              <a:t>Disponibili per chiarimenti e approfondimenti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5A"/>
                </a:solidFill>
              </a:rPr>
              <a:t>Referente del progetto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‹ Nome Cognome ›   ·   ‹ recapito telefonico 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2"/>
                </a:solidFill>
              </a:rPr>
              <a:t>Referenti per settore (email istituzionale + telefono):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7947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‹ Nome Cognome › — Tech / Sviluppo — ‹ email › · ‹ tel ›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‹ Nome Cognome › — ‹ settore › — ‹ email › · ‹ tel 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6C2"/>
                </a:solidFill>
              </a:rPr>
              <a:t>BlueHarbor Terminal — realizzato per MSC · ITS WSA 2025–2027 · Learning by Project. Scenario e dati fittizi a scopo didattico.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MSC — Learning by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BlueHarbor Terminal — Presentazione finale</dc:title>
  <dc:subject>PptxGenJS Presentation</dc:subject>
  <dc:creator>BlueHarbor Team</dc:creator>
  <cp:lastModifiedBy>BlueHarbor Team</cp:lastModifiedBy>
  <cp:revision>1</cp:revision>
  <dcterms:created xsi:type="dcterms:W3CDTF">2026-07-27T09:17:39Z</dcterms:created>
  <dcterms:modified xsi:type="dcterms:W3CDTF">2026-07-27T09:17:39Z</dcterms:modified>
</cp:coreProperties>
</file>