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89320"/>
            <a:ext cx="12191695" cy="12801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57200"/>
            <a:ext cx="1874519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80" y="576072"/>
            <a:ext cx="1447639" cy="859536"/>
          </a:xfrm>
          <a:prstGeom prst="rect">
            <a:avLst/>
          </a:prstGeom>
        </p:spPr>
      </p:pic>
      <p:pic>
        <p:nvPicPr>
          <p:cNvPr id="8" name="Picture 7" descr="q2-completo-bi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72" y="520101"/>
            <a:ext cx="2377440" cy="9714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A45A"/>
                </a:solidFill>
                <a:latin typeface="Calibri"/>
              </a:rPr>
              <a:t>UNITÀ FORMATIVA · LEARNING BY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9424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BlueHarbor Terminal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5643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8D4E4"/>
                </a:solidFill>
                <a:latin typeface="Calibri"/>
              </a:rPr>
              <a:t>Registro operativo per la gestione delle banchine di un terminal container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160520"/>
            <a:ext cx="1005840" cy="54864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FC080"/>
                </a:solidFill>
                <a:latin typeface="Calibri"/>
              </a:rPr>
              <a:t>Cliente / Commessa:  </a:t>
            </a:r>
            <a:r>
              <a:rPr sz="1400" b="1" i="0">
                <a:solidFill>
                  <a:srgbClr val="DFC080"/>
                </a:solidFill>
                <a:latin typeface="Calibri"/>
              </a:rPr>
              <a:t>MSC — Mediterranean Shipping 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D4E4"/>
                </a:solidFill>
                <a:latin typeface="Calibri"/>
              </a:rPr>
              <a:t>Realizzato da:  </a:t>
            </a:r>
            <a:r>
              <a:rPr sz="1300" b="1" i="0">
                <a:solidFill>
                  <a:srgbClr val="C8D4E4"/>
                </a:solidFill>
                <a:latin typeface="Calibri"/>
              </a:rPr>
              <a:t>Q+2 — Quattrocchi + Due</a:t>
            </a:r>
            <a:r>
              <a:rPr sz="1300" b="0" i="0">
                <a:solidFill>
                  <a:srgbClr val="C8D4E4"/>
                </a:solidFill>
                <a:latin typeface="Calibri"/>
              </a:rPr>
              <a:t>   ·   Foglia · Spadaccini · Frison · Martorana · Durand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230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EB6C2"/>
                </a:solidFill>
                <a:latin typeface="Calibri"/>
              </a:rPr>
              <a:t>Presentazione finale · 29 luglio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2"/>
                </a:solidFill>
                <a:latin typeface="Calibri"/>
              </a:rPr>
              <a:t>Scenario e dati fittizi a scopo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713232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45A"/>
                </a:solidFill>
                <a:latin typeface="Calibri"/>
              </a:rPr>
              <a:t>CLIENTE — COMMESSA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676656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1628"/>
                </a:solidFill>
                <a:latin typeface="Calibri"/>
              </a:rPr>
              <a:t>La richiesta di MSC</a:t>
            </a:r>
          </a:p>
        </p:txBody>
      </p:sp>
      <p:sp>
        <p:nvSpPr>
          <p:cNvPr id="5" name="Rectangle 4"/>
          <p:cNvSpPr/>
          <p:nvPr/>
        </p:nvSpPr>
        <p:spPr>
          <a:xfrm>
            <a:off x="8732520" y="1481328"/>
            <a:ext cx="2926080" cy="1188720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m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771" y="1627632"/>
            <a:ext cx="977576" cy="8961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1481328"/>
            <a:ext cx="7680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A3340"/>
                </a:solidFill>
                <a:latin typeface="Calibri"/>
              </a:rPr>
              <a:t>MSC gestisce un piccolo terminal container, BlueHarbor. Le operazioni sono coordinate a mano: inefficienze e scarsa visibilità. Serve una piattaforma web interna semplice per: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7589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C8A45A"/>
              </a:buClr>
              <a:buChar char="•"/>
            </a:pPr>
            <a:r>
              <a:rPr sz="1300" b="0" i="0">
                <a:solidFill>
                  <a:srgbClr val="2A3340"/>
                </a:solidFill>
                <a:latin typeface="Calibri"/>
              </a:rPr>
              <a:t>Registrare le navi in arrivo</a:t>
            </a:r>
          </a:p>
          <a:p>
            <a:pPr algn="l" marL="203200" indent="-20320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C8A45A"/>
              </a:buClr>
              <a:buChar char="•"/>
            </a:pPr>
            <a:r>
              <a:rPr sz="1300" b="0" i="0">
                <a:solidFill>
                  <a:srgbClr val="2A3340"/>
                </a:solidFill>
                <a:latin typeface="Calibri"/>
              </a:rPr>
              <a:t>Pianificare l'uso delle banchine, assegnandole secondo regole certe</a:t>
            </a:r>
          </a:p>
          <a:p>
            <a:pPr algn="l" marL="203200" indent="-20320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C8A45A"/>
              </a:buClr>
              <a:buChar char="•"/>
            </a:pPr>
            <a:r>
              <a:rPr sz="1300" b="0" i="0">
                <a:solidFill>
                  <a:srgbClr val="2A3340"/>
                </a:solidFill>
                <a:latin typeface="Calibri"/>
              </a:rPr>
              <a:t>Coordinare il lavoro tra il personale operativo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023360"/>
            <a:ext cx="10607040" cy="160020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9728" cy="1600200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1788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1628"/>
                </a:solidFill>
                <a:latin typeface="Calibri"/>
              </a:rPr>
              <a:t>VINCOLI CHIAVE DELLA COMMESSA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26280"/>
            <a:ext cx="101498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Clr>
                <a:srgbClr val="C8A45A"/>
              </a:buClr>
              <a:buChar char="•"/>
            </a:pPr>
            <a:r>
              <a:rPr sz="1250" b="1" i="0">
                <a:solidFill>
                  <a:srgbClr val="2A3340"/>
                </a:solidFill>
                <a:latin typeface="Calibri"/>
              </a:rPr>
              <a:t>8 banchine fisse</a:t>
            </a:r>
            <a:r>
              <a:rPr sz="1250" b="0" i="0">
                <a:solidFill>
                  <a:srgbClr val="2A3340"/>
                </a:solidFill>
                <a:latin typeface="Calibri"/>
              </a:rPr>
              <a:t> (1 XL · 1 L · 2 M · 4 S): una banchina ospita solo navi della propria taglia</a:t>
            </a:r>
          </a:p>
          <a:p>
            <a:pPr algn="l" marL="203200" indent="-20320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Clr>
                <a:srgbClr val="C8A45A"/>
              </a:buClr>
              <a:buChar char="•"/>
            </a:pPr>
            <a:r>
              <a:rPr sz="1250" b="0" i="0">
                <a:solidFill>
                  <a:srgbClr val="2A3340"/>
                </a:solidFill>
                <a:latin typeface="Calibri"/>
              </a:rPr>
              <a:t>Tempo simulato a </a:t>
            </a:r>
            <a:r>
              <a:rPr sz="1250" b="1" i="0">
                <a:solidFill>
                  <a:srgbClr val="2A3340"/>
                </a:solidFill>
                <a:latin typeface="Calibri"/>
              </a:rPr>
              <a:t>giorno virtuale</a:t>
            </a:r>
            <a:r>
              <a:rPr sz="1250" b="0" i="0">
                <a:solidFill>
                  <a:srgbClr val="2A3340"/>
                </a:solidFill>
                <a:latin typeface="Calibri"/>
              </a:rPr>
              <a:t>, con azione </a:t>
            </a:r>
            <a:r>
              <a:rPr sz="1250" b="1" i="0">
                <a:solidFill>
                  <a:srgbClr val="2A3340"/>
                </a:solidFill>
                <a:latin typeface="Calibri"/>
              </a:rPr>
              <a:t>Next Day</a:t>
            </a:r>
            <a:r>
              <a:rPr sz="1250" b="0" i="0">
                <a:solidFill>
                  <a:srgbClr val="2A3340"/>
                </a:solidFill>
                <a:latin typeface="Calibri"/>
              </a:rPr>
              <a:t> — nessun tempo reale</a:t>
            </a:r>
          </a:p>
          <a:p>
            <a:pPr algn="l" marL="203200" indent="-20320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Clr>
                <a:srgbClr val="C8A45A"/>
              </a:buClr>
              <a:buChar char="•"/>
            </a:pPr>
            <a:r>
              <a:rPr sz="1250" b="1" i="0">
                <a:solidFill>
                  <a:srgbClr val="2A3340"/>
                </a:solidFill>
                <a:latin typeface="Calibri"/>
              </a:rPr>
              <a:t>Fuori scope:</a:t>
            </a:r>
            <a:r>
              <a:rPr sz="1250" b="0" i="0">
                <a:solidFill>
                  <a:srgbClr val="2A3340"/>
                </a:solidFill>
                <a:latin typeface="Calibri"/>
              </a:rPr>
              <a:t> pianificazione automatica, KPI, real-time, riassegnazioni dopo l'assegnazione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470"/>
                </a:solidFill>
                <a:latin typeface="Calibri"/>
              </a:rPr>
              <a:t>BlueHarbor Terminal  ·  MSC — Learning by Project (ITS WSA 2025–2027)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4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713232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45A"/>
                </a:solidFill>
                <a:latin typeface="Calibri"/>
              </a:rPr>
              <a:t>IL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676656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1628"/>
                </a:solidFill>
                <a:latin typeface="Calibri"/>
              </a:rPr>
              <a:t>Chi ha realizzato BlueHarbor</a:t>
            </a:r>
          </a:p>
        </p:txBody>
      </p:sp>
      <p:pic>
        <p:nvPicPr>
          <p:cNvPr id="5" name="Picture 4" descr="q2-compatt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55065"/>
            <a:ext cx="1737360" cy="8834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1627632"/>
            <a:ext cx="8641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A3340"/>
                </a:solidFill>
                <a:latin typeface="Calibri"/>
              </a:rPr>
              <a:t>Nome del team / azienda:  </a:t>
            </a:r>
            <a:r>
              <a:rPr sz="1350" b="1" i="0">
                <a:solidFill>
                  <a:srgbClr val="2A3340"/>
                </a:solidFill>
                <a:latin typeface="Calibri"/>
              </a:rPr>
              <a:t>Q+2 — Quattrocchi + Due</a:t>
            </a:r>
            <a:r>
              <a:rPr sz="1350" b="0" i="0">
                <a:solidFill>
                  <a:srgbClr val="2A3340"/>
                </a:solidFill>
                <a:latin typeface="Calibri"/>
              </a:rPr>
              <a:t>  ·  soluzioni software per la logistica portuale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77440"/>
            <a:ext cx="2103120" cy="3017520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77440"/>
            <a:ext cx="2103120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8739" y="2697480"/>
            <a:ext cx="960120" cy="96012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8739" y="2980944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84048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A1628"/>
                </a:solidFill>
                <a:latin typeface="Calibri"/>
              </a:rPr>
              <a:t>Luca Foglia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4407408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8A45A"/>
                </a:solidFill>
                <a:latin typeface="Calibri"/>
              </a:rPr>
              <a:t>Project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4773168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Calibri"/>
              </a:rPr>
              <a:t>Referente cliente, pianificazione, documentazione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8376" y="2377440"/>
            <a:ext cx="2103120" cy="3017520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08376" y="2377440"/>
            <a:ext cx="2103120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79876" y="2697480"/>
            <a:ext cx="960120" cy="96012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79876" y="2980944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84048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A1628"/>
                </a:solidFill>
                <a:latin typeface="Calibri"/>
              </a:rPr>
              <a:t>Stefano Spadaccini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407408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8A45A"/>
                </a:solidFill>
                <a:latin typeface="Calibri"/>
              </a:rPr>
              <a:t>Backend &amp; Architettura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773168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Calibri"/>
              </a:rPr>
              <a:t>API, dominio, interfaccia e rilascio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39512" y="2377440"/>
            <a:ext cx="2103120" cy="3017520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39512" y="2377440"/>
            <a:ext cx="2103120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697480"/>
            <a:ext cx="960120" cy="96012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980944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MF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5816" y="384048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A1628"/>
                </a:solidFill>
                <a:latin typeface="Calibri"/>
              </a:rPr>
              <a:t>Mattia Frison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85816" y="4407408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8A45A"/>
                </a:solidFill>
                <a:latin typeface="Calibri"/>
              </a:rPr>
              <a:t>Dati &amp;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5816" y="4773168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Calibri"/>
              </a:rPr>
              <a:t>Modello dati, script SQL, integrità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0648" y="2377440"/>
            <a:ext cx="2103120" cy="3017520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70648" y="2377440"/>
            <a:ext cx="2103120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42148" y="2697480"/>
            <a:ext cx="960120" cy="96012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2148" y="2980944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TM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384048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A1628"/>
                </a:solidFill>
                <a:latin typeface="Calibri"/>
              </a:rPr>
              <a:t>Tommaso Martorana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6952" y="4407408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8A45A"/>
                </a:solidFill>
                <a:latin typeface="Calibri"/>
              </a:rPr>
              <a:t>Frontend &amp; 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6952" y="4773168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Calibri"/>
              </a:rPr>
              <a:t>Viste per ruolo, timeline, usabilità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01784" y="2377440"/>
            <a:ext cx="2103120" cy="3017520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01784" y="2377440"/>
            <a:ext cx="2103120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73284" y="2697480"/>
            <a:ext cx="960120" cy="96012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73284" y="2980944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48088" y="384048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A1628"/>
                </a:solidFill>
                <a:latin typeface="Calibri"/>
              </a:rPr>
              <a:t>Elias Durand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48088" y="4407408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8A45A"/>
                </a:solidFill>
                <a:latin typeface="Calibri"/>
              </a:rPr>
              <a:t>Full-stack &amp; Supporto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48088" y="4773168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Calibri"/>
              </a:rPr>
              <a:t>Sviluppo trasversale, verifiche, 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59612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470"/>
                </a:solidFill>
                <a:latin typeface="Calibri"/>
              </a:rPr>
              <a:t>Metodo di lavoro: Scrum adattato — sprint settimanali, board condivisa, revisione incrociata delle modifiche.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455664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470"/>
                </a:solidFill>
                <a:latin typeface="Calibri"/>
              </a:rPr>
              <a:t>BlueHarbor Terminal  ·  MSC — Learning by Project (ITS WSA 2025–2027)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5566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4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713232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45A"/>
                </a:solidFill>
                <a:latin typeface="Calibri"/>
              </a:rPr>
              <a:t>LA PROPOSTA DEL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676656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1628"/>
                </a:solidFill>
                <a:latin typeface="Calibri"/>
              </a:rPr>
              <a:t>Come abbiamo risolto la commessa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5212080" cy="3520440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5212080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74519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1628"/>
                </a:solidFill>
                <a:latin typeface="Calibri"/>
              </a:rPr>
              <a:t>SCELTE CHE CI DISTINGUONO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59152"/>
            <a:ext cx="47548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20000"/>
              </a:lnSpc>
              <a:spcBef>
                <a:spcPts val="0"/>
              </a:spcBef>
              <a:spcAft>
                <a:spcPts val="2000"/>
              </a:spcAft>
              <a:buClr>
                <a:srgbClr val="C8A45A"/>
              </a:buClr>
              <a:buChar char="•"/>
            </a:pPr>
            <a:r>
              <a:rPr sz="1350" b="1" i="0">
                <a:solidFill>
                  <a:srgbClr val="2A3340"/>
                </a:solidFill>
                <a:latin typeface="Calibri"/>
              </a:rPr>
              <a:t>Assegnazione guidata:</a:t>
            </a:r>
            <a:r>
              <a:rPr sz="1350" b="0" i="0">
                <a:solidFill>
                  <a:srgbClr val="2A3340"/>
                </a:solidFill>
                <a:latin typeface="Calibri"/>
              </a:rPr>
              <a:t> si sceglie la nave e si accendono solo le banchine compatibili</a:t>
            </a:r>
          </a:p>
          <a:p>
            <a:pPr algn="l" marL="203200" indent="-203200">
              <a:lnSpc>
                <a:spcPct val="120000"/>
              </a:lnSpc>
              <a:spcBef>
                <a:spcPts val="0"/>
              </a:spcBef>
              <a:spcAft>
                <a:spcPts val="2000"/>
              </a:spcAft>
              <a:buClr>
                <a:srgbClr val="C8A45A"/>
              </a:buClr>
              <a:buChar char="•"/>
            </a:pPr>
            <a:r>
              <a:rPr sz="1350" b="1" i="0">
                <a:solidFill>
                  <a:srgbClr val="2A3340"/>
                </a:solidFill>
                <a:latin typeface="Calibri"/>
              </a:rPr>
              <a:t>Timeline navigabile</a:t>
            </a:r>
            <a:r>
              <a:rPr sz="1350" b="0" i="0">
                <a:solidFill>
                  <a:srgbClr val="2A3340"/>
                </a:solidFill>
                <a:latin typeface="Calibri"/>
              </a:rPr>
              <a:t> con accodamento visivo: occupazioni, manutenzioni e "oggi"</a:t>
            </a:r>
          </a:p>
          <a:p>
            <a:pPr algn="l" marL="203200" indent="-203200">
              <a:lnSpc>
                <a:spcPct val="120000"/>
              </a:lnSpc>
              <a:spcBef>
                <a:spcPts val="0"/>
              </a:spcBef>
              <a:spcAft>
                <a:spcPts val="2000"/>
              </a:spcAft>
              <a:buClr>
                <a:srgbClr val="C8A45A"/>
              </a:buClr>
              <a:buChar char="•"/>
            </a:pPr>
            <a:r>
              <a:rPr sz="1350" b="1" i="0">
                <a:solidFill>
                  <a:srgbClr val="2A3340"/>
                </a:solidFill>
                <a:latin typeface="Calibri"/>
              </a:rPr>
              <a:t>Storico append-only + export CSV:</a:t>
            </a:r>
            <a:r>
              <a:rPr sz="1350" b="0" i="0">
                <a:solidFill>
                  <a:srgbClr val="2A3340"/>
                </a:solidFill>
                <a:latin typeface="Calibri"/>
              </a:rPr>
              <a:t> tracciabilità senza abilitare riassegnazioni</a:t>
            </a:r>
          </a:p>
          <a:p>
            <a:pPr algn="l" marL="203200" indent="-203200">
              <a:lnSpc>
                <a:spcPct val="120000"/>
              </a:lnSpc>
              <a:spcBef>
                <a:spcPts val="0"/>
              </a:spcBef>
              <a:spcAft>
                <a:spcPts val="2000"/>
              </a:spcAft>
              <a:buClr>
                <a:srgbClr val="C8A45A"/>
              </a:buClr>
              <a:buChar char="•"/>
            </a:pPr>
            <a:r>
              <a:rPr sz="1350" b="1" i="0">
                <a:solidFill>
                  <a:srgbClr val="2A3340"/>
                </a:solidFill>
                <a:latin typeface="Calibri"/>
              </a:rPr>
              <a:t>Admin come ruolo di piattaforma</a:t>
            </a:r>
            <a:r>
              <a:rPr sz="1350" b="0" i="0">
                <a:solidFill>
                  <a:srgbClr val="2A3340"/>
                </a:solidFill>
                <a:latin typeface="Calibri"/>
              </a:rPr>
              <a:t> che non scavalca le regole di assegnazione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0488" y="1600200"/>
            <a:ext cx="5212080" cy="3520440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0488" y="1600200"/>
            <a:ext cx="5212080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874519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1628"/>
                </a:solidFill>
                <a:latin typeface="Calibri"/>
              </a:rPr>
              <a:t>IL VALORE PER CHI LAVORA IN BANCHINA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359152"/>
            <a:ext cx="47548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20000"/>
              </a:lnSpc>
              <a:spcBef>
                <a:spcPts val="0"/>
              </a:spcBef>
              <a:spcAft>
                <a:spcPts val="2000"/>
              </a:spcAft>
              <a:buClr>
                <a:srgbClr val="C8A45A"/>
              </a:buClr>
              <a:buChar char="•"/>
            </a:pPr>
            <a:r>
              <a:rPr sz="1350" b="1" i="0">
                <a:solidFill>
                  <a:srgbClr val="2A3340"/>
                </a:solidFill>
                <a:latin typeface="Calibri"/>
              </a:rPr>
              <a:t>Zero conflitti:</a:t>
            </a:r>
            <a:r>
              <a:rPr sz="1350" b="0" i="0">
                <a:solidFill>
                  <a:srgbClr val="2A3340"/>
                </a:solidFill>
                <a:latin typeface="Calibri"/>
              </a:rPr>
              <a:t> il primo slot davvero libero lo calcola il sistema</a:t>
            </a:r>
          </a:p>
          <a:p>
            <a:pPr algn="l" marL="203200" indent="-203200">
              <a:lnSpc>
                <a:spcPct val="120000"/>
              </a:lnSpc>
              <a:spcBef>
                <a:spcPts val="0"/>
              </a:spcBef>
              <a:spcAft>
                <a:spcPts val="2000"/>
              </a:spcAft>
              <a:buClr>
                <a:srgbClr val="C8A45A"/>
              </a:buClr>
              <a:buChar char="•"/>
            </a:pPr>
            <a:r>
              <a:rPr sz="1350" b="1" i="0">
                <a:solidFill>
                  <a:srgbClr val="2A3340"/>
                </a:solidFill>
                <a:latin typeface="Calibri"/>
              </a:rPr>
              <a:t>Zero conti a mano:</a:t>
            </a:r>
            <a:r>
              <a:rPr sz="1350" b="0" i="0">
                <a:solidFill>
                  <a:srgbClr val="2A3340"/>
                </a:solidFill>
                <a:latin typeface="Calibri"/>
              </a:rPr>
              <a:t> l'accodamento è automatico quando la banchina è occupata</a:t>
            </a:r>
          </a:p>
          <a:p>
            <a:pPr algn="l" marL="203200" indent="-203200">
              <a:lnSpc>
                <a:spcPct val="120000"/>
              </a:lnSpc>
              <a:spcBef>
                <a:spcPts val="0"/>
              </a:spcBef>
              <a:spcAft>
                <a:spcPts val="2000"/>
              </a:spcAft>
              <a:buClr>
                <a:srgbClr val="C8A45A"/>
              </a:buClr>
              <a:buChar char="•"/>
            </a:pPr>
            <a:r>
              <a:rPr sz="1350" b="1" i="0">
                <a:solidFill>
                  <a:srgbClr val="2A3340"/>
                </a:solidFill>
                <a:latin typeface="Calibri"/>
              </a:rPr>
              <a:t>Continuità:</a:t>
            </a:r>
            <a:r>
              <a:rPr sz="1350" b="0" i="0">
                <a:solidFill>
                  <a:srgbClr val="2A3340"/>
                </a:solidFill>
                <a:latin typeface="Calibri"/>
              </a:rPr>
              <a:t> la conoscenza sta nel sistema, non nella testa di una persona</a:t>
            </a:r>
          </a:p>
          <a:p>
            <a:pPr algn="l" marL="203200" indent="-203200">
              <a:lnSpc>
                <a:spcPct val="120000"/>
              </a:lnSpc>
              <a:spcBef>
                <a:spcPts val="0"/>
              </a:spcBef>
              <a:spcAft>
                <a:spcPts val="2000"/>
              </a:spcAft>
              <a:buClr>
                <a:srgbClr val="C8A45A"/>
              </a:buClr>
              <a:buChar char="•"/>
            </a:pPr>
            <a:r>
              <a:rPr sz="1350" b="1" i="0">
                <a:solidFill>
                  <a:srgbClr val="2A3340"/>
                </a:solidFill>
                <a:latin typeface="Calibri"/>
              </a:rPr>
              <a:t>Rendicontazione immediata:</a:t>
            </a:r>
            <a:r>
              <a:rPr sz="1350" b="0" i="0">
                <a:solidFill>
                  <a:srgbClr val="2A3340"/>
                </a:solidFill>
                <a:latin typeface="Calibri"/>
              </a:rPr>
              <a:t> chi ha ormeggiato dove e quando, in un clic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470"/>
                </a:solidFill>
                <a:latin typeface="Calibri"/>
              </a:rPr>
              <a:t>BlueHarbor Terminal  ·  MSC — Learning by Project (ITS WSA 2025–2027)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4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713232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45A"/>
                </a:solidFill>
                <a:latin typeface="Calibri"/>
              </a:rPr>
              <a:t>LE NOSTRE SCELTE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676656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1628"/>
                </a:solidFill>
                <a:latin typeface="Calibri"/>
              </a:rPr>
              <a:t>Cosa ci distingue dai concorrenti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1628"/>
                </a:solidFill>
                <a:latin typeface="Calibri"/>
              </a:rPr>
              <a:t>TRE RUOLI SEPARATI, PERMESSI VERIFICATI SUL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3273552" cy="932688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3273552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2907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628"/>
                </a:solidFill>
                <a:latin typeface="Calibri"/>
              </a:rPr>
              <a:t>Operatore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9696"/>
            <a:ext cx="2907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Registra le navi in arrivo.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79" y="19385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8A45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3128" y="1645920"/>
            <a:ext cx="3273552" cy="932688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3128" y="1645920"/>
            <a:ext cx="3273552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10512"/>
            <a:ext cx="2907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628"/>
                </a:solidFill>
                <a:latin typeface="Calibri"/>
              </a:rPr>
              <a:t>Scheduler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139696"/>
            <a:ext cx="2907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Assegna le navi alle banchine.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7" y="19385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8A45A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9016" y="1645920"/>
            <a:ext cx="3273552" cy="932688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9016" y="1645920"/>
            <a:ext cx="3273552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1810512"/>
            <a:ext cx="2907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628"/>
                </a:solidFill>
                <a:latin typeface="Calibri"/>
              </a:rPr>
              <a:t>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139696"/>
            <a:ext cx="2907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Utenti, permessi e manutenzioni.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6517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470"/>
                </a:solidFill>
                <a:latin typeface="Calibri"/>
              </a:rPr>
              <a:t>Nessuno può fare il lavoro di un altro: i permessi non si nascondono, si verificano a ogni chiamata.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03580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1628"/>
                </a:solidFill>
                <a:latin typeface="Calibri"/>
              </a:rPr>
              <a:t>ARCHITETTURA A TRE LIVELLI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364992"/>
            <a:ext cx="2359152" cy="7863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502152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React + Vite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776472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FC080"/>
                </a:solidFill>
                <a:latin typeface="Calibri"/>
              </a:rPr>
              <a:t>interfaccia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6392" y="356616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8A45A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364992"/>
            <a:ext cx="2359152" cy="7863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0168" y="3502152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ASP.NET Core Web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3776472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FC080"/>
                </a:solidFill>
                <a:latin typeface="Calibri"/>
              </a:rPr>
              <a:t>regole di dominio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9592" y="356616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8A45A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364992"/>
            <a:ext cx="2359152" cy="7863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3502152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EF 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776472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FC080"/>
                </a:solidFill>
                <a:latin typeface="Calibri"/>
              </a:rPr>
              <a:t>accesso ai dati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2792" y="356616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8A45A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3364992"/>
            <a:ext cx="2359152" cy="7863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16567" y="3502152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SQL Server / Azure 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6567" y="3776472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FC080"/>
                </a:solidFill>
                <a:latin typeface="Calibri"/>
              </a:rPr>
              <a:t>persistenza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22452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Calibri"/>
              </a:rPr>
              <a:t>In cloud su Azure, sempre acceso  ·  rilascio automatico solo se i test passano  ·  password con PBKDF2, segreti fuori dal codice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590288"/>
            <a:ext cx="10625328" cy="146304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590288"/>
            <a:ext cx="109728" cy="1463040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" y="47274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1628"/>
                </a:solidFill>
                <a:latin typeface="Calibri"/>
              </a:rPr>
              <a:t>LE QUATTRO SCELTE CHE CI DIFFERENZIANO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047488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C8A45A"/>
              </a:buClr>
              <a:buChar char="•"/>
            </a:pPr>
            <a:r>
              <a:rPr sz="1100" b="1" i="0">
                <a:solidFill>
                  <a:srgbClr val="2A3340"/>
                </a:solidFill>
                <a:latin typeface="Calibri"/>
              </a:rPr>
              <a:t>Il primo slot libero lo calcola il sistema</a:t>
            </a:r>
            <a:r>
              <a:rPr sz="1100" b="0" i="0">
                <a:solidFill>
                  <a:srgbClr val="2A3340"/>
                </a:solidFill>
                <a:latin typeface="Calibri"/>
              </a:rPr>
              <a:t>, con accodamento automatico: niente doppie prenotazioni</a:t>
            </a:r>
          </a:p>
          <a:p>
            <a:pPr algn="l" marL="203200" indent="-203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C8A45A"/>
              </a:buClr>
              <a:buChar char="•"/>
            </a:pPr>
            <a:r>
              <a:rPr sz="1100" b="1" i="0">
                <a:solidFill>
                  <a:srgbClr val="2A3340"/>
                </a:solidFill>
                <a:latin typeface="Calibri"/>
              </a:rPr>
              <a:t>Anteprima prima di confermare:</a:t>
            </a:r>
            <a:r>
              <a:rPr sz="1100" b="0" i="0">
                <a:solidFill>
                  <a:srgbClr val="2A3340"/>
                </a:solidFill>
                <a:latin typeface="Calibri"/>
              </a:rPr>
              <a:t> si vede il giorno di ormeggio calcolato, poi si decide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047488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C8A45A"/>
              </a:buClr>
              <a:buChar char="•"/>
            </a:pPr>
            <a:r>
              <a:rPr sz="1100" b="1" i="0">
                <a:solidFill>
                  <a:srgbClr val="2A3340"/>
                </a:solidFill>
                <a:latin typeface="Calibri"/>
              </a:rPr>
              <a:t>La regola di assegnazione è una funzione pura</a:t>
            </a:r>
            <a:r>
              <a:rPr sz="1100" b="0" i="0">
                <a:solidFill>
                  <a:srgbClr val="2A3340"/>
                </a:solidFill>
                <a:latin typeface="Calibri"/>
              </a:rPr>
              <a:t>, coperta da 26 test xUnit: se non passano, non si rilascia</a:t>
            </a:r>
          </a:p>
          <a:p>
            <a:pPr algn="l" marL="203200" indent="-203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C8A45A"/>
              </a:buClr>
              <a:buChar char="•"/>
            </a:pPr>
            <a:r>
              <a:rPr sz="1100" b="1" i="0">
                <a:solidFill>
                  <a:srgbClr val="2A3340"/>
                </a:solidFill>
                <a:latin typeface="Calibri"/>
              </a:rPr>
              <a:t>Storico append-only ed export CSV:</a:t>
            </a:r>
            <a:r>
              <a:rPr sz="1100" b="0" i="0">
                <a:solidFill>
                  <a:srgbClr val="2A3340"/>
                </a:solidFill>
                <a:latin typeface="Calibri"/>
              </a:rPr>
              <a:t> tracciabilità piena senza abilitare le riassegnazioni, escluse dalla commessa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455664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470"/>
                </a:solidFill>
                <a:latin typeface="Calibri"/>
              </a:rPr>
              <a:t>BlueHarbor Terminal  ·  MSC — Learning by Project (ITS WSA 2025–2027)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5566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4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128016" cy="822960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A45A"/>
                </a:solidFill>
                <a:latin typeface="Calibri"/>
              </a:rPr>
              <a:t>DIMOSTRAZIONE PRATICA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Passiamo al prodotto funzionante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429000"/>
            <a:ext cx="10607040" cy="1417320"/>
          </a:xfrm>
          <a:prstGeom prst="rect">
            <a:avLst/>
          </a:prstGeom>
          <a:solidFill>
            <a:srgbClr val="16263E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63931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8A45A"/>
                </a:solidFill>
                <a:latin typeface="Calibri"/>
              </a:rPr>
              <a:t>PERCORSO DELLA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77639"/>
            <a:ext cx="10149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8E4F0"/>
                </a:solidFill>
                <a:latin typeface="Calibri"/>
              </a:rPr>
              <a:t>L'Operatore registra una nave  →  lo Scheduler la assegna e la timeline mostra l'accodamento  →  </a:t>
            </a:r>
            <a:r>
              <a:rPr sz="1400" b="1" i="0">
                <a:solidFill>
                  <a:srgbClr val="D8E4F0"/>
                </a:solidFill>
                <a:latin typeface="Calibri"/>
              </a:rPr>
              <a:t>Next Day</a:t>
            </a:r>
            <a:r>
              <a:rPr sz="1400" b="0" i="0">
                <a:solidFill>
                  <a:srgbClr val="D8E4F0"/>
                </a:solidFill>
                <a:latin typeface="Calibri"/>
              </a:rPr>
              <a:t>: la nave ormeggia e poi parte  →  l'Admin gestisce utenti e manutenzioni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AEB6C2"/>
                </a:solidFill>
                <a:latin typeface="Calibri"/>
              </a:rPr>
              <a:t>In produzione su Azure, con il database reale. In caso di problemi di rete: stessa immagine in locale.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2"/>
                </a:solidFill>
                <a:latin typeface="Calibri"/>
              </a:rPr>
              <a:t>BlueHarbor Terminal  ·  MSC — Learning by Project (ITS WSA 2025–2027)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713232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45A"/>
                </a:solidFill>
                <a:latin typeface="Calibri"/>
              </a:rPr>
              <a:t>PREZZO DI VENDITA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676656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A1628"/>
                </a:solidFill>
                <a:latin typeface="Calibri"/>
              </a:rPr>
              <a:t>Licenza a vita, aggiornamenti su rinnovo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A3340"/>
                </a:solidFill>
                <a:latin typeface="Calibri"/>
              </a:rPr>
              <a:t>Ogni porto riceve la </a:t>
            </a:r>
            <a:r>
              <a:rPr sz="1250" b="1" i="0">
                <a:solidFill>
                  <a:srgbClr val="2A3340"/>
                </a:solidFill>
                <a:latin typeface="Calibri"/>
              </a:rPr>
              <a:t>propria istanza dedicata</a:t>
            </a:r>
            <a:r>
              <a:rPr sz="1250" b="0" i="0">
                <a:solidFill>
                  <a:srgbClr val="2A3340"/>
                </a:solidFill>
                <a:latin typeface="Calibri"/>
              </a:rPr>
              <a:t>. Si paga una volta sola: la licenza non scade. Cifre indicative, IVA esclusa.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19072"/>
            <a:ext cx="5212080" cy="1920240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5212080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956815"/>
            <a:ext cx="47000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8A45A"/>
                </a:solidFill>
                <a:latin typeface="Calibri"/>
              </a:rPr>
              <a:t>€ 15.000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395727"/>
            <a:ext cx="4700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1628"/>
                </a:solidFill>
                <a:latin typeface="Calibri"/>
              </a:rPr>
              <a:t>Una tantum — licenza a vita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24911"/>
            <a:ext cx="4700016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3340"/>
                </a:solidFill>
                <a:latin typeface="Calibri"/>
              </a:rPr>
              <a:t>Istanza dedicata al porto, configurazione delle banchine, migrazione dei dati, formazione e go-live assistito. Comprende </a:t>
            </a:r>
            <a:r>
              <a:rPr sz="1150" b="1" i="0">
                <a:solidFill>
                  <a:srgbClr val="2A3340"/>
                </a:solidFill>
                <a:latin typeface="Calibri"/>
              </a:rPr>
              <a:t>il primo anno di aggiornamenti</a:t>
            </a:r>
            <a:r>
              <a:rPr sz="1150" b="0" i="0">
                <a:solidFill>
                  <a:srgbClr val="2A3340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719072"/>
            <a:ext cx="5212080" cy="1920240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719072"/>
            <a:ext cx="5212080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56815"/>
            <a:ext cx="47000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8A45A"/>
                </a:solidFill>
                <a:latin typeface="Calibri"/>
              </a:rPr>
              <a:t>€ 7.500 / anno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95727"/>
            <a:ext cx="4700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1628"/>
                </a:solidFill>
                <a:latin typeface="Calibri"/>
              </a:rPr>
              <a:t>Rinnovo aggiornamenti — facoltativo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24911"/>
            <a:ext cx="4700016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3340"/>
                </a:solidFill>
                <a:latin typeface="Calibri"/>
              </a:rPr>
              <a:t>Dodici mesi di nuove versioni e nuove funzioni. Senza rinnovo il software </a:t>
            </a:r>
            <a:r>
              <a:rPr sz="1150" b="1" i="0">
                <a:solidFill>
                  <a:srgbClr val="2A3340"/>
                </a:solidFill>
                <a:latin typeface="Calibri"/>
              </a:rPr>
              <a:t>continua a funzionare</a:t>
            </a:r>
            <a:r>
              <a:rPr sz="1150" b="0" i="0">
                <a:solidFill>
                  <a:srgbClr val="2A3340"/>
                </a:solidFill>
                <a:latin typeface="Calibri"/>
              </a:rPr>
              <a:t>: resta alla versione in uso e la licenza non decade.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6732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1628"/>
                </a:solidFill>
                <a:latin typeface="Calibri"/>
              </a:rPr>
              <a:t>TRE AGGIORNAMENTI GIÀ IN PROGRAMMA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41648"/>
            <a:ext cx="3273552" cy="1554480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41648"/>
            <a:ext cx="3273552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4279392"/>
            <a:ext cx="2761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628"/>
                </a:solidFill>
                <a:latin typeface="Calibri"/>
              </a:rPr>
              <a:t>UX e accessibilità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608576"/>
            <a:ext cx="2761488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3340"/>
                </a:solidFill>
                <a:latin typeface="Calibri"/>
              </a:rPr>
              <a:t>Interfaccia più rapida da usare a fine turno e utilizzabile da tutti gli addetti, compresi navigazione da tastiera e lettori di schermo.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53128" y="4041648"/>
            <a:ext cx="3273552" cy="1554480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3128" y="4041648"/>
            <a:ext cx="3273552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4279392"/>
            <a:ext cx="2761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628"/>
                </a:solidFill>
                <a:latin typeface="Calibri"/>
              </a:rPr>
              <a:t>Multi-porto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608576"/>
            <a:ext cx="2761488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3340"/>
                </a:solidFill>
                <a:latin typeface="Calibri"/>
              </a:rPr>
              <a:t>Gestione di più terminal da un'unica console, con dati separati per porto: oggi l'istanza è dedicata a uno solo.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9016" y="4041648"/>
            <a:ext cx="3273552" cy="1554480"/>
          </a:xfrm>
          <a:prstGeom prst="rect">
            <a:avLst/>
          </a:prstGeom>
          <a:solidFill>
            <a:srgbClr val="FBFCFE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9016" y="4041648"/>
            <a:ext cx="3273552" cy="82296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4279392"/>
            <a:ext cx="2761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Report avanzati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608576"/>
            <a:ext cx="2761488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3340"/>
                </a:solidFill>
                <a:latin typeface="Calibri"/>
              </a:rPr>
              <a:t>Indicatori di occupazione delle banchine e andamento nel tempo, oltre all'export CSV già disponibile.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470"/>
                </a:solidFill>
                <a:latin typeface="Calibri"/>
              </a:rPr>
              <a:t>Il rinnovo dà accesso a questi aggiornamenti man mano che escono. Chi non rinnova può riprenderlo in seguito, pagando l'annualità in corso.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470"/>
                </a:solidFill>
                <a:latin typeface="Calibri"/>
              </a:rPr>
              <a:t>BlueHarbor Terminal  ·  MSC — Learning by Project (ITS WSA 2025–2027)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4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28016" cy="822960"/>
          </a:xfrm>
          <a:prstGeom prst="rect">
            <a:avLst/>
          </a:prstGeom>
          <a:solidFill>
            <a:srgbClr val="C8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A45A"/>
                </a:solidFill>
                <a:latin typeface="Calibri"/>
              </a:rPr>
              <a:t>CONTATTI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91640"/>
            <a:ext cx="8778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Disponibili per chiarimenti e approfondimenti</a:t>
            </a:r>
          </a:p>
        </p:txBody>
      </p:sp>
      <p:pic>
        <p:nvPicPr>
          <p:cNvPr id="8" name="Picture 7" descr="q2-compatto-bi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3304" y="1389888"/>
            <a:ext cx="1690310" cy="8595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2788920"/>
            <a:ext cx="10607040" cy="960120"/>
          </a:xfrm>
          <a:prstGeom prst="rect">
            <a:avLst/>
          </a:prstGeom>
          <a:solidFill>
            <a:srgbClr val="16263E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443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45A"/>
                </a:solidFill>
                <a:latin typeface="Calibri"/>
              </a:rPr>
              <a:t>REFERENTE DEL PROGETTO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46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Luca Foglia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— Project Manager  ·  luca.foglia@example.com  ·  +39 011 456 7890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45A"/>
                </a:solidFill>
                <a:latin typeface="Calibri"/>
              </a:rPr>
              <a:t>REFERENTI PER SETTORE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343400"/>
            <a:ext cx="2587752" cy="1188720"/>
          </a:xfrm>
          <a:prstGeom prst="rect">
            <a:avLst/>
          </a:prstGeom>
          <a:solidFill>
            <a:srgbClr val="16263E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98848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Stefano Spadaccini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791456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FC080"/>
                </a:solidFill>
                <a:latin typeface="Calibri"/>
              </a:rPr>
              <a:t>Backend &amp; Architettura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5084064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2"/>
                </a:solidFill>
                <a:latin typeface="Calibri"/>
              </a:rPr>
              <a:t>stefano.spadaccini@example.com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4343400"/>
            <a:ext cx="2587752" cy="1188720"/>
          </a:xfrm>
          <a:prstGeom prst="rect">
            <a:avLst/>
          </a:prstGeom>
          <a:solidFill>
            <a:srgbClr val="16263E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4498848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Mattia Frison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4791456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FC080"/>
                </a:solidFill>
                <a:latin typeface="Calibri"/>
              </a:rPr>
              <a:t>Dati &amp;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5084064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2"/>
                </a:solidFill>
                <a:latin typeface="Calibri"/>
              </a:rPr>
              <a:t>mattia.frison@example.com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5624" y="4343400"/>
            <a:ext cx="2587752" cy="1188720"/>
          </a:xfrm>
          <a:prstGeom prst="rect">
            <a:avLst/>
          </a:prstGeom>
          <a:solidFill>
            <a:srgbClr val="16263E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4498848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Tommaso Martorana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4791456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FC080"/>
                </a:solidFill>
                <a:latin typeface="Calibri"/>
              </a:rPr>
              <a:t>Frontend &amp;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5084064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2"/>
                </a:solidFill>
                <a:latin typeface="Calibri"/>
              </a:rPr>
              <a:t>tommaso.martorana@example.com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14816" y="4343400"/>
            <a:ext cx="2587752" cy="1188720"/>
          </a:xfrm>
          <a:prstGeom prst="rect">
            <a:avLst/>
          </a:prstGeom>
          <a:solidFill>
            <a:srgbClr val="16263E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9408" y="4498848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Elias Durand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4791456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FC080"/>
                </a:solidFill>
                <a:latin typeface="Calibri"/>
              </a:rPr>
              <a:t>Full-stack &amp; Supporto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5084064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2"/>
                </a:solidFill>
                <a:latin typeface="Calibri"/>
              </a:rPr>
              <a:t>elias.durand@example.com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AEB6C2"/>
                </a:solidFill>
                <a:latin typeface="Calibri"/>
              </a:rPr>
              <a:t>BlueHarbor Terminal — realizzato da Q+2 per MSC  ·  ITS WSA 2025–2027 · Learning by Project.  Scenario, azienda fornitrice e recapiti sono fittizi a scopo didattico.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5566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EB6C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MSC — Learning by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BlueHarbor Terminal — Presentazione finale</dc:title>
  <dc:subject>PptxGenJS Presentation</dc:subject>
  <dc:creator>BlueHarbor Team</dc:creator>
  <cp:lastModifiedBy>BlueHarbor Team</cp:lastModifiedBy>
  <cp:revision>1</cp:revision>
  <dcterms:created xsi:type="dcterms:W3CDTF">2026-07-27T09:17:39Z</dcterms:created>
  <dcterms:modified xsi:type="dcterms:W3CDTF">2026-07-27T09:17:39Z</dcterms:modified>
</cp:coreProperties>
</file>